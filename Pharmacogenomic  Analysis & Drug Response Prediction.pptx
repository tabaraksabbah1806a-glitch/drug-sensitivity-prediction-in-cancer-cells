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9" r:id="rId10"/>
    <p:sldId id="266" r:id="rId11"/>
    <p:sldId id="267" r:id="rId12"/>
    <p:sldId id="263" r:id="rId13"/>
    <p:sldId id="268" r:id="rId14"/>
    <p:sldId id="26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10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2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4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1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2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2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8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37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56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28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61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0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0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F2FE91-CFD3-4AD5-84AE-0333A77E587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3986D16-A4AA-47A8-B01C-CA7267F47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27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9663" y="1569504"/>
            <a:ext cx="7247548" cy="24953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>
                <a:latin typeface="Arial Black" panose="020B0A04020102020204" pitchFamily="34" charset="0"/>
              </a:rPr>
              <a:t>Pharmacogenomic</a:t>
            </a:r>
            <a:r>
              <a:rPr lang="en-US" b="1" dirty="0" smtClean="0">
                <a:latin typeface="Arial Black" panose="020B0A04020102020204" pitchFamily="34" charset="0"/>
              </a:rPr>
              <a:t>  Analysis &amp; Drug Response Prediction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9663" y="4064889"/>
            <a:ext cx="6336633" cy="1229005"/>
          </a:xfrm>
        </p:spPr>
        <p:txBody>
          <a:bodyPr/>
          <a:lstStyle/>
          <a:p>
            <a:pPr algn="l"/>
            <a:r>
              <a:rPr lang="en-US" dirty="0"/>
              <a:t>An End-to-End Computational Pipeline for Predicting Drug Sensitivity (IC50) using Genomic &amp; Clinical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19663" y="5791199"/>
            <a:ext cx="6946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Prepared by: </a:t>
            </a:r>
            <a:r>
              <a:rPr lang="en-US" dirty="0" err="1" smtClean="0"/>
              <a:t>Minnat</a:t>
            </a:r>
            <a:r>
              <a:rPr lang="en-US" dirty="0" smtClean="0"/>
              <a:t> Allah </a:t>
            </a:r>
            <a:r>
              <a:rPr lang="en-US" dirty="0" err="1" smtClean="0"/>
              <a:t>Thabit</a:t>
            </a:r>
            <a:r>
              <a:rPr lang="en-US" dirty="0" smtClean="0"/>
              <a:t> , </a:t>
            </a:r>
            <a:r>
              <a:rPr lang="en-US" dirty="0" err="1" smtClean="0"/>
              <a:t>Tabarak</a:t>
            </a:r>
            <a:r>
              <a:rPr lang="en-US" dirty="0" smtClean="0"/>
              <a:t> Sabah , </a:t>
            </a:r>
            <a:r>
              <a:rPr lang="en-US" dirty="0" err="1" smtClean="0"/>
              <a:t>Yaqoob</a:t>
            </a:r>
            <a:r>
              <a:rPr lang="en-US" dirty="0" smtClean="0"/>
              <a:t> </a:t>
            </a:r>
            <a:r>
              <a:rPr lang="en-US" dirty="0" err="1" smtClean="0"/>
              <a:t>Abd</a:t>
            </a:r>
            <a:r>
              <a:rPr lang="en-US" dirty="0" smtClean="0"/>
              <a:t> Al Hakeem</a:t>
            </a:r>
          </a:p>
          <a:p>
            <a:r>
              <a:rPr lang="en-US" dirty="0" smtClean="0"/>
              <a:t>Supervised by: Assist. Prof. Dr. </a:t>
            </a:r>
            <a:r>
              <a:rPr lang="en-US" dirty="0" err="1" smtClean="0"/>
              <a:t>Suhad</a:t>
            </a:r>
            <a:r>
              <a:rPr lang="en-US" dirty="0" smtClean="0"/>
              <a:t> F. Shihan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47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Executive 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3554" y="1637377"/>
            <a:ext cx="10009435" cy="48936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Objective: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Develop a robust machine learning pipeline to predict drug response (LN_IC50) and identify significant genomic drivers.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Key Data Sources: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GDSC2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Pharmacogenomic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database merged with PANCANCER ANOVA genomic markers.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Methodology: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Integration of statistical biomarker discovery with ensemble machine learning (Random Forest,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Key Finding: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The pipeline achieves high reliability (&gt;84% accuracy).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Drug Identity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is the primary predictor of response, followed by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Tissue Type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Outcome: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Validation confirmed the model learns genuine biological signals (performance drops with synthetic noise), establishing a strong baseline for drug screening.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6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Breakdown of the </a:t>
            </a:r>
            <a:r>
              <a:rPr lang="en-US" altLang="en-US" b="1" cap="none" dirty="0" smtClean="0">
                <a:ln>
                  <a:noFill/>
                </a:ln>
                <a:latin typeface="Arial" panose="020B0604020202020204" pitchFamily="34" charset="0"/>
              </a:rPr>
              <a:t>raw data :</a:t>
            </a:r>
            <a:endParaRPr lang="en-US" altLang="en-US" b="1" cap="none" dirty="0">
              <a:ln>
                <a:noFill/>
              </a:ln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5801" y="1588967"/>
            <a:ext cx="850391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GDSC2-dataset.csv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contains drug response data from the project's newer screening platform (GDSC2), which uses improved experimental procedures. It is typically downloaded from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"Downloads"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section of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Cancerrxgene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under "Drug Sensitivity Data.“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PANCANCER_ANOVA.csv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file contains the pre-calculated statistical results (ANOVA) provided by the GDSC team. They perform a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Pancancer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analysis to identify which genomic features (mutations, copy number variations) significantly correlate with drug sensitivity across all cancer types. This is also found on their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 under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"Genomic Markers of Drug Sensitivity“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notebook merges these two official files: taking the raw drug response from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GDSC2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enriching it with the "driver gene" knowledge from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results.</a:t>
            </a:r>
          </a:p>
        </p:txBody>
      </p:sp>
    </p:spTree>
    <p:extLst>
      <p:ext uri="{BB962C8B-B14F-4D97-AF65-F5344CB8AC3E}">
        <p14:creationId xmlns:p14="http://schemas.microsoft.com/office/powerpoint/2010/main" val="41088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Architecture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214" y="1700463"/>
            <a:ext cx="10896598" cy="479659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Concept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r>
              <a:rPr lang="en-US" sz="2400" dirty="0">
                <a:solidFill>
                  <a:schemeClr val="tx1"/>
                </a:solidFill>
              </a:rPr>
              <a:t> A modular data science pipeline designed for reproducibility and scalability.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Key Modules: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Data Ingestion &amp; Configuration:</a:t>
            </a:r>
            <a:r>
              <a:rPr lang="en-US" sz="2400" dirty="0">
                <a:solidFill>
                  <a:schemeClr val="tx1"/>
                </a:solidFill>
              </a:rPr>
              <a:t> Setup of features and response metrics.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Biological Enrichment:</a:t>
            </a:r>
            <a:r>
              <a:rPr lang="en-US" sz="2400" dirty="0">
                <a:solidFill>
                  <a:schemeClr val="tx1"/>
                </a:solidFill>
              </a:rPr>
              <a:t> Integration of ANOVA statistical findings.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Preprocessing:</a:t>
            </a:r>
            <a:r>
              <a:rPr lang="en-US" sz="2400" dirty="0">
                <a:solidFill>
                  <a:schemeClr val="tx1"/>
                </a:solidFill>
              </a:rPr>
              <a:t> Rigorous cleaning, imputation, and normalization.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Exploratory Data Analysis (EDA):</a:t>
            </a:r>
            <a:r>
              <a:rPr lang="en-US" sz="2400" dirty="0">
                <a:solidFill>
                  <a:schemeClr val="tx1"/>
                </a:solidFill>
              </a:rPr>
              <a:t> Visualization of distributions and pathways.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Statistical Discovery:</a:t>
            </a:r>
            <a:r>
              <a:rPr lang="en-US" sz="2400" dirty="0">
                <a:solidFill>
                  <a:schemeClr val="tx1"/>
                </a:solidFill>
              </a:rPr>
              <a:t> Identification of driver genes (e.g., </a:t>
            </a:r>
            <a:r>
              <a:rPr lang="en-US" sz="2400" i="1" dirty="0">
                <a:solidFill>
                  <a:schemeClr val="tx1"/>
                </a:solidFill>
              </a:rPr>
              <a:t>TP53, BRAF</a:t>
            </a:r>
            <a:r>
              <a:rPr lang="en-US" sz="2400" dirty="0">
                <a:solidFill>
                  <a:schemeClr val="tx1"/>
                </a:solidFill>
              </a:rPr>
              <a:t>).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Predictive Modeling:</a:t>
            </a:r>
            <a:r>
              <a:rPr lang="en-US" sz="2400" dirty="0">
                <a:solidFill>
                  <a:schemeClr val="tx1"/>
                </a:solidFill>
              </a:rPr>
              <a:t> Benchmarking LR, RF, and </a:t>
            </a:r>
            <a:r>
              <a:rPr lang="en-US" sz="2400" dirty="0" err="1">
                <a:solidFill>
                  <a:schemeClr val="tx1"/>
                </a:solidFill>
              </a:rPr>
              <a:t>XGBoost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Validation:</a:t>
            </a:r>
            <a:r>
              <a:rPr lang="en-US" sz="2400" dirty="0">
                <a:solidFill>
                  <a:schemeClr val="tx1"/>
                </a:solidFill>
              </a:rPr>
              <a:t> Robustness checks against synthetic noise.</a:t>
            </a:r>
          </a:p>
        </p:txBody>
      </p:sp>
    </p:spTree>
    <p:extLst>
      <p:ext uri="{BB962C8B-B14F-4D97-AF65-F5344CB8AC3E}">
        <p14:creationId xmlns:p14="http://schemas.microsoft.com/office/powerpoint/2010/main" val="326370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Module 1 - Computational Environment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08546" y="1794571"/>
            <a:ext cx="984985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&amp; Tools: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Processing: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high-performance manipulation.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seaborn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publication-quality figures.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scikit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-learn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(Pipelines, Preprocessing) and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xgboost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(Gradient Boosting).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 random seeds set to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Optimization: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LOKY_MAX_CPU_COUNT=1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configured to prevent deadlock on Windows systems during complex training.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9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Data</a:t>
            </a:r>
            <a:r>
              <a:rPr lang="en-US" b="1" dirty="0"/>
              <a:t> Ingestion Strategy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1422" y="1830807"/>
            <a:ext cx="1067200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Ingestion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Dataset: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GDSC2-dataset.csv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(Genomics of Drug Sensitivity in Cancer).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 Mapping: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Drug: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DRUG_NAME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PUTATIVE_TARGET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(e.g., EGFR, molecule targeted)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LN_IC50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(Natural Log of Half-maximal Inhibitory Concentration)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 Checks: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schema validation to ensure critical columns exist.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 of missing target values (Cleaned dataset contains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242,036 experiments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286 Unique Drugs across 969 Unique Cell 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17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Module 3 - Biological Data Enrichment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88758" y="1821996"/>
            <a:ext cx="1138989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 beyond sparse mutation data by integrating high-level genomic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Auxiliary Source: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PANCANCER_ANOVA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statistical results.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ANOVA_Biomarker_Count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Total number of statistically significant genetic biomarkers for a specific drug.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ANOVA_Max_Effect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maximum effect size observed (potential potency).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ANOVA_Mean_Effect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Average impact across all biomarkers.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"biological intuition" to the model, enriching the dataset from 19 columns to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1,503 features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post-processing.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9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 - Genomic Biomarker Discovery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5802" y="1792707"/>
            <a:ext cx="897154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Validation: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Prior to modeling, ANOVA testing identified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 highly significant genomic markers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(p-value &lt; 1e-5).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Driver Genes Identified: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BCR.ABL_mut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 by: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Nilotinib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Dasatinib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-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Strongest Effect Size (~6.03)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TP53_mut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 by: Nutlin-3a) -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Tumor Suppressor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BRAF_mut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 by: PLX-4720,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Dabrafenib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-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 Melanoma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PIK3CA_mut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 by: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Alpelisib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-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PI3K/MTOR Pathway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EGFR signaling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(Targeted by: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Afatinib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89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346" y="70338"/>
            <a:ext cx="6699740" cy="3115420"/>
          </a:xfrm>
        </p:spPr>
      </p:pic>
      <p:sp>
        <p:nvSpPr>
          <p:cNvPr id="5" name="Rectangle 4"/>
          <p:cNvSpPr/>
          <p:nvPr/>
        </p:nvSpPr>
        <p:spPr>
          <a:xfrm>
            <a:off x="0" y="323929"/>
            <a:ext cx="410600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600" b="1" dirty="0" smtClean="0"/>
              <a:t>Chart Description:</a:t>
            </a:r>
            <a:r>
              <a:rPr lang="en-US" sz="2600" dirty="0" smtClean="0"/>
              <a:t> A Bar Plot visualizing the "Top Biological Pathways Affected by Significant Mutations".</a:t>
            </a: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313593" y="2863831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Key Observations:</a:t>
            </a:r>
            <a:endParaRPr lang="en-US" sz="2800" dirty="0" smtClean="0"/>
          </a:p>
          <a:p>
            <a:pPr lvl="1"/>
            <a:r>
              <a:rPr lang="en-US" sz="2800" b="1" dirty="0" smtClean="0"/>
              <a:t>ERK MAPK signaling:</a:t>
            </a:r>
            <a:r>
              <a:rPr lang="en-US" sz="2800" dirty="0" smtClean="0"/>
              <a:t> Heavily targeted by BRAF inhibitors.</a:t>
            </a:r>
          </a:p>
          <a:p>
            <a:pPr lvl="1"/>
            <a:r>
              <a:rPr lang="en-US" sz="2800" b="1" dirty="0" smtClean="0"/>
              <a:t>PI3K/MTOR signaling:</a:t>
            </a:r>
            <a:r>
              <a:rPr lang="en-US" sz="2800" dirty="0" smtClean="0"/>
              <a:t> Frequent mutations indicate resistance/sensitivity mechanisms.</a:t>
            </a:r>
          </a:p>
          <a:p>
            <a:pPr lvl="1"/>
            <a:r>
              <a:rPr lang="en-US" sz="2800" b="1" dirty="0" smtClean="0"/>
              <a:t>ABL signaling:</a:t>
            </a:r>
            <a:r>
              <a:rPr lang="en-US" sz="2800" dirty="0" smtClean="0"/>
              <a:t> High effect sizes in Leukemia cell lines.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49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Google Sans Text"/>
              </a:rPr>
              <a:t>Module 4 - Data Preprocessing &amp; Cleaning</a:t>
            </a:r>
            <a:endParaRPr lang="en-US" altLang="en-US" b="1" cap="none" dirty="0">
              <a:ln>
                <a:noFill/>
              </a:ln>
              <a:latin typeface="Google San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01952" y="1790476"/>
            <a:ext cx="12191102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Leakage Prevention: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Explicit removal of surrogate response metrics: AUC, RMSE, Z_SCORE.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Ensures model learns from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biology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not correlated output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Transformation Pipeline: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Numerical Data: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Imputed with Median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sz="2400" dirty="0" smtClean="0">
                <a:latin typeface="Google Sans Text"/>
              </a:rPr>
              <a:t>: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sz="2400" dirty="0" smtClean="0"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Standard Scaled (Z-score normalization).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Categorical Data: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Imputed with Constant :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lang="en-US" altLang="en-US" sz="2400" dirty="0">
                <a:latin typeface="Google Sans Text"/>
              </a:rPr>
              <a:t> </a:t>
            </a:r>
            <a:r>
              <a:rPr lang="en-US" altLang="en-US" sz="2400" dirty="0" smtClean="0"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One-Hot Encoded (DRUG_NAME, PATHWAY_NAME).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Final Matrix: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clean, dense matrix of shape (242036, 1503) ready for ingestion.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66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Exploratory Data Analysis (EDA) - Response Distribution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38727" y="2254941"/>
            <a:ext cx="844215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Verify the normality of the target variable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LN_IC50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response variable follows a roughly normal distribution, validating the use of RMSE (Root Mean Squared Error) as a loss function for regression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32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064" y="-288758"/>
            <a:ext cx="10131425" cy="1456267"/>
          </a:xfrm>
        </p:spPr>
        <p:txBody>
          <a:bodyPr/>
          <a:lstStyle/>
          <a:p>
            <a:r>
              <a:rPr lang="en-US" b="1" dirty="0"/>
              <a:t>Visualization - Top Biological Pathways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4" y="923710"/>
            <a:ext cx="10972324" cy="560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9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(EDA) - Tissue Specificity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8517" y="2019918"/>
            <a:ext cx="82015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Assess how drug response varies across different cancer tissue types (TCGA Labels).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Certain tissue types (e.g., </a:t>
            </a:r>
            <a:r>
              <a:rPr kumimoji="0" lang="en-US" altLang="en-US" sz="24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SKCM - Skin Cutaneous Melanoma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show distinct sensitivity profiles compared to others, highlighting the importance of the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TCGA_DESC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feature.</a:t>
            </a: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40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4" y="416159"/>
            <a:ext cx="10587790" cy="5953757"/>
          </a:xfrm>
        </p:spPr>
      </p:pic>
    </p:spTree>
    <p:extLst>
      <p:ext uri="{BB962C8B-B14F-4D97-AF65-F5344CB8AC3E}">
        <p14:creationId xmlns:p14="http://schemas.microsoft.com/office/powerpoint/2010/main" val="300665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Module 5 - Predictive Modeling Suite</a:t>
            </a:r>
            <a:b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5801" y="1762770"/>
            <a:ext cx="92923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Selection: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tiered approach to benchmarking.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(LR):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Establishes a baseline for linear relationships.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(RF):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Ensemble method to capture non-linear interactions between genes and drugs.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Gradient boosting machine optimized for high-performance and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Strategy: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80/20 Train-Test split with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random_state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=42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reproducibility.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7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844" y="233058"/>
            <a:ext cx="9228220" cy="2943280"/>
          </a:xfrm>
        </p:spPr>
        <p:txBody>
          <a:bodyPr>
            <a:noAutofit/>
          </a:bodyPr>
          <a:lstStyle/>
          <a:p>
            <a:r>
              <a:rPr lang="en-US" sz="2800" b="1" dirty="0"/>
              <a:t>Linear Regression Results</a:t>
            </a:r>
          </a:p>
          <a:p>
            <a:r>
              <a:rPr lang="en-US" sz="2800" b="1" dirty="0"/>
              <a:t>Role:</a:t>
            </a:r>
            <a:r>
              <a:rPr lang="en-US" sz="2800" dirty="0"/>
              <a:t> Baseline Model.</a:t>
            </a:r>
          </a:p>
          <a:p>
            <a:r>
              <a:rPr lang="en-US" sz="2800" b="1" dirty="0"/>
              <a:t>Performance:</a:t>
            </a:r>
            <a:endParaRPr lang="en-US" sz="2800" dirty="0"/>
          </a:p>
          <a:p>
            <a:pPr lvl="1"/>
            <a:r>
              <a:rPr lang="en-US" sz="2800" b="1" dirty="0"/>
              <a:t>R² Score:</a:t>
            </a:r>
            <a:r>
              <a:rPr lang="en-US" sz="2800" dirty="0"/>
              <a:t> [Insert Value, e.g., ~0.65-0.70]</a:t>
            </a:r>
          </a:p>
          <a:p>
            <a:pPr lvl="1"/>
            <a:r>
              <a:rPr lang="en-US" sz="2800" b="1" dirty="0"/>
              <a:t>Interpretation:</a:t>
            </a:r>
            <a:r>
              <a:rPr lang="en-US" sz="2800" dirty="0"/>
              <a:t> Captures broad trends but fails to model complex gene-drug synergies (e.g., synthetic lethality).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794" y="3560020"/>
            <a:ext cx="3482642" cy="28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6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474" y="-216123"/>
            <a:ext cx="10131425" cy="3649133"/>
          </a:xfrm>
        </p:spPr>
        <p:txBody>
          <a:bodyPr>
            <a:normAutofit/>
          </a:bodyPr>
          <a:lstStyle/>
          <a:p>
            <a:r>
              <a:rPr lang="en-US" sz="2400" b="1" dirty="0"/>
              <a:t>Random Forest Results</a:t>
            </a:r>
          </a:p>
          <a:p>
            <a:r>
              <a:rPr lang="en-US" sz="2400" b="1" dirty="0"/>
              <a:t>Role:</a:t>
            </a:r>
            <a:r>
              <a:rPr lang="en-US" sz="2400" dirty="0"/>
              <a:t> Non-linear Ensemble.</a:t>
            </a:r>
          </a:p>
          <a:p>
            <a:r>
              <a:rPr lang="en-US" sz="2400" b="1" dirty="0"/>
              <a:t>Configuration:</a:t>
            </a:r>
            <a:r>
              <a:rPr lang="en-US" sz="2400" dirty="0"/>
              <a:t> 100 Trees, Max Depth optimized to prevent overfitting.</a:t>
            </a:r>
          </a:p>
          <a:p>
            <a:r>
              <a:rPr lang="en-US" sz="2400" b="1" dirty="0"/>
              <a:t>Performance:</a:t>
            </a:r>
            <a:endParaRPr lang="en-US" sz="2400" dirty="0"/>
          </a:p>
          <a:p>
            <a:pPr lvl="1"/>
            <a:r>
              <a:rPr lang="en-US" sz="2400" b="1" dirty="0"/>
              <a:t>R² Score:</a:t>
            </a:r>
            <a:r>
              <a:rPr lang="en-US" sz="2400" dirty="0"/>
              <a:t> Significantly higher than baseline.</a:t>
            </a:r>
          </a:p>
          <a:p>
            <a:pPr lvl="1"/>
            <a:r>
              <a:rPr lang="en-US" sz="2400" b="1" dirty="0"/>
              <a:t>Strength:</a:t>
            </a:r>
            <a:r>
              <a:rPr lang="en-US" sz="2400" dirty="0"/>
              <a:t> Handles high-dimensional genomic data well; robust to outliers.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75" y="3433010"/>
            <a:ext cx="4109550" cy="337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7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11443" y="486002"/>
            <a:ext cx="791960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(Champion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High-Performance Gradient Boosting.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device='auto'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(CPU optimized for stability).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0.84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(Best Performing)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Lowest error rate among all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preferred model for final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25" y="3190652"/>
            <a:ext cx="4515174" cy="366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5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Importance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10607"/>
          </a:xfrm>
        </p:spPr>
        <p:txBody>
          <a:bodyPr>
            <a:noAutofit/>
          </a:bodyPr>
          <a:lstStyle/>
          <a:p>
            <a:r>
              <a:rPr lang="en-US" sz="2400" dirty="0" smtClean="0"/>
              <a:t>What </a:t>
            </a:r>
            <a:r>
              <a:rPr lang="en-US" sz="2400" dirty="0"/>
              <a:t>drives the prediction?</a:t>
            </a:r>
          </a:p>
          <a:p>
            <a:r>
              <a:rPr lang="en-US" sz="2400" b="1" dirty="0"/>
              <a:t>Analysis:</a:t>
            </a:r>
            <a:r>
              <a:rPr lang="en-US" sz="2400" dirty="0"/>
              <a:t> Extraction of feature importance scores from the Tree-based models.</a:t>
            </a:r>
          </a:p>
          <a:p>
            <a:r>
              <a:rPr lang="en-US" sz="2400" b="1" dirty="0"/>
              <a:t>Ranking:</a:t>
            </a:r>
            <a:endParaRPr lang="en-US" sz="2400" dirty="0"/>
          </a:p>
          <a:p>
            <a:pPr lvl="1"/>
            <a:r>
              <a:rPr lang="en-US" sz="2400" b="1" dirty="0"/>
              <a:t>Drug Identity:</a:t>
            </a:r>
            <a:r>
              <a:rPr lang="en-US" sz="2400" dirty="0"/>
              <a:t> The specific drug used is the strongest predictor.</a:t>
            </a:r>
          </a:p>
          <a:p>
            <a:pPr lvl="1"/>
            <a:r>
              <a:rPr lang="en-US" sz="2400" b="1" dirty="0"/>
              <a:t>Tissue Type:</a:t>
            </a:r>
            <a:r>
              <a:rPr lang="en-US" sz="2400" dirty="0"/>
              <a:t> The cancer origin plays a secondary but critical role.</a:t>
            </a:r>
          </a:p>
          <a:p>
            <a:pPr lvl="1"/>
            <a:r>
              <a:rPr lang="en-US" sz="2400" b="1" dirty="0"/>
              <a:t>Genomic Biomarkers:</a:t>
            </a:r>
            <a:r>
              <a:rPr lang="en-US" sz="2400" dirty="0"/>
              <a:t> Specific mutations (e.g., </a:t>
            </a:r>
            <a:r>
              <a:rPr lang="en-US" sz="2400" i="1" dirty="0"/>
              <a:t>BRAF, TP53</a:t>
            </a:r>
            <a:r>
              <a:rPr lang="en-US" sz="2400" dirty="0"/>
              <a:t>) fine-tune the prediction for specific samples.</a:t>
            </a:r>
          </a:p>
        </p:txBody>
      </p:sp>
    </p:spTree>
    <p:extLst>
      <p:ext uri="{BB962C8B-B14F-4D97-AF65-F5344CB8AC3E}">
        <p14:creationId xmlns:p14="http://schemas.microsoft.com/office/powerpoint/2010/main" val="304348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Validation &amp; Robustness Experiment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05" y="1620253"/>
            <a:ext cx="10319921" cy="4170947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Hypothesis</a:t>
            </a:r>
            <a:r>
              <a:rPr lang="en-US" sz="2400" b="1" dirty="0"/>
              <a:t>:</a:t>
            </a:r>
            <a:r>
              <a:rPr lang="en-US" sz="2400" dirty="0"/>
              <a:t> Is the model learning biology or just memorizing noise?</a:t>
            </a:r>
          </a:p>
          <a:p>
            <a:r>
              <a:rPr lang="en-US" sz="2400" b="1" dirty="0"/>
              <a:t>Method:</a:t>
            </a:r>
            <a:r>
              <a:rPr lang="en-US" sz="2400" dirty="0"/>
              <a:t> "Control Experiment" - Injecting synthetic genetic noise into the dataset and retraining.</a:t>
            </a:r>
          </a:p>
          <a:p>
            <a:r>
              <a:rPr lang="en-US" sz="2400" b="1" dirty="0"/>
              <a:t>Result:</a:t>
            </a:r>
            <a:endParaRPr lang="en-US" sz="2400" dirty="0"/>
          </a:p>
          <a:p>
            <a:pPr lvl="1"/>
            <a:r>
              <a:rPr lang="en-US" sz="2400" dirty="0"/>
              <a:t>Performance </a:t>
            </a:r>
            <a:r>
              <a:rPr lang="en-US" sz="2400" b="1" dirty="0"/>
              <a:t>dropped significantly</a:t>
            </a:r>
            <a:r>
              <a:rPr lang="en-US" sz="2400" dirty="0"/>
              <a:t> (R² ~ 0.70).</a:t>
            </a:r>
          </a:p>
          <a:p>
            <a:r>
              <a:rPr lang="en-US" sz="2400" b="1" dirty="0"/>
              <a:t>Inference:</a:t>
            </a:r>
            <a:r>
              <a:rPr lang="en-US" sz="2400" dirty="0"/>
              <a:t> The drop confirms that the baseline model was indeed learning genuine biological signals. The "delta" in performance represents the true predictive power of the genomic features.</a:t>
            </a:r>
          </a:p>
        </p:txBody>
      </p:sp>
    </p:spTree>
    <p:extLst>
      <p:ext uri="{BB962C8B-B14F-4D97-AF65-F5344CB8AC3E}">
        <p14:creationId xmlns:p14="http://schemas.microsoft.com/office/powerpoint/2010/main" val="304152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53" y="174389"/>
            <a:ext cx="8726905" cy="6423972"/>
          </a:xfrm>
        </p:spPr>
      </p:pic>
    </p:spTree>
    <p:extLst>
      <p:ext uri="{BB962C8B-B14F-4D97-AF65-F5344CB8AC3E}">
        <p14:creationId xmlns:p14="http://schemas.microsoft.com/office/powerpoint/2010/main" val="76392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43" y="1106905"/>
            <a:ext cx="10191584" cy="4684295"/>
          </a:xfrm>
        </p:spPr>
        <p:txBody>
          <a:bodyPr>
            <a:noAutofit/>
          </a:bodyPr>
          <a:lstStyle/>
          <a:p>
            <a:r>
              <a:rPr lang="en-US" sz="2800" b="1" dirty="0"/>
              <a:t>Dimensionality Reduction (PCA/t-SNE)</a:t>
            </a:r>
          </a:p>
          <a:p>
            <a:r>
              <a:rPr lang="en-US" sz="2800" b="1" dirty="0"/>
              <a:t>Objective:</a:t>
            </a:r>
            <a:r>
              <a:rPr lang="en-US" sz="2800" dirty="0"/>
              <a:t> Visualizing the high-dimensional feature space (1503 dimensions).</a:t>
            </a:r>
          </a:p>
          <a:p>
            <a:r>
              <a:rPr lang="en-US" sz="2800" b="1" dirty="0"/>
              <a:t>Method:</a:t>
            </a:r>
            <a:r>
              <a:rPr lang="en-US" sz="2800" dirty="0"/>
              <a:t> Principal Component Analysis (PCA) to project data into 2D.</a:t>
            </a:r>
          </a:p>
          <a:p>
            <a:r>
              <a:rPr lang="en-US" sz="2800" b="1" dirty="0"/>
              <a:t>Visualization:</a:t>
            </a:r>
            <a:r>
              <a:rPr lang="en-US" sz="2800" dirty="0"/>
              <a:t> Clusters form based on drug families (e.g., Kinase Inhibitors vs. Chemotherapy), validating that the feature engineering preserved chemical similarities.</a:t>
            </a:r>
          </a:p>
        </p:txBody>
      </p:sp>
    </p:spTree>
    <p:extLst>
      <p:ext uri="{BB962C8B-B14F-4D97-AF65-F5344CB8AC3E}">
        <p14:creationId xmlns:p14="http://schemas.microsoft.com/office/powerpoint/2010/main" val="31572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54" y="712648"/>
            <a:ext cx="5551682" cy="40999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715" y="712648"/>
            <a:ext cx="5636895" cy="417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5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&amp; Challenges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5801" y="1758528"/>
            <a:ext cx="868278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Sparsity: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ANOVA features enrich the data, raw mutation matrices remain sparse.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Generalization: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accuracy (&gt;84%) is on known cell lines; "blind" generalization to novel tissues requires further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Cost: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High-dimensional One-Hot encoding increases memory usage (mitigated by sparse matrices).</a:t>
            </a:r>
          </a:p>
        </p:txBody>
      </p:sp>
    </p:spTree>
    <p:extLst>
      <p:ext uri="{BB962C8B-B14F-4D97-AF65-F5344CB8AC3E}">
        <p14:creationId xmlns:p14="http://schemas.microsoft.com/office/powerpoint/2010/main" val="412864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Verdict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7733"/>
            <a:ext cx="10131425" cy="364913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Success</a:t>
            </a:r>
            <a:r>
              <a:rPr lang="en-US" sz="2800" b="1" dirty="0"/>
              <a:t>:</a:t>
            </a:r>
            <a:r>
              <a:rPr lang="en-US" sz="2800" dirty="0"/>
              <a:t> The pipeline successfully predicts drug response with high reliability (</a:t>
            </a:r>
            <a:r>
              <a:rPr lang="en-US" sz="2800" b="1" dirty="0"/>
              <a:t>&gt;84%</a:t>
            </a:r>
            <a:r>
              <a:rPr lang="en-US" sz="2800" dirty="0"/>
              <a:t>).</a:t>
            </a:r>
          </a:p>
          <a:p>
            <a:r>
              <a:rPr lang="en-US" sz="2800" b="1" dirty="0"/>
              <a:t>Clinical Utility:</a:t>
            </a:r>
            <a:r>
              <a:rPr lang="en-US" sz="2800" dirty="0"/>
              <a:t> Provides a strong baseline for general drug screening and identifying candidates for repurposing.</a:t>
            </a:r>
          </a:p>
          <a:p>
            <a:r>
              <a:rPr lang="en-US" sz="2800" b="1" dirty="0"/>
              <a:t>Biological Validity:</a:t>
            </a:r>
            <a:r>
              <a:rPr lang="en-US" sz="2800" dirty="0"/>
              <a:t> Confirmed by the detection of known interactions (e.g., </a:t>
            </a:r>
            <a:r>
              <a:rPr lang="en-US" sz="2800" i="1" dirty="0" err="1"/>
              <a:t>Nilotinib</a:t>
            </a:r>
            <a:r>
              <a:rPr lang="en-US" sz="2800" i="1" dirty="0"/>
              <a:t> - BCR.ABL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1100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Directions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7733"/>
            <a:ext cx="10131425" cy="364913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WES </a:t>
            </a:r>
            <a:r>
              <a:rPr lang="en-US" sz="2400" b="1" dirty="0"/>
              <a:t>Integration:</a:t>
            </a:r>
            <a:r>
              <a:rPr lang="en-US" sz="2400" dirty="0"/>
              <a:t> Incorporating </a:t>
            </a:r>
            <a:r>
              <a:rPr lang="en-US" sz="2400" b="1" dirty="0"/>
              <a:t>Whole-Exome Sequencing (WES)</a:t>
            </a:r>
            <a:r>
              <a:rPr lang="en-US" sz="2400" dirty="0"/>
              <a:t> data is essential to resolve complex resistance mechanisms not captured by panel data.</a:t>
            </a:r>
          </a:p>
          <a:p>
            <a:r>
              <a:rPr lang="en-US" sz="2400" b="1" dirty="0"/>
              <a:t>Deep Learning:</a:t>
            </a:r>
            <a:r>
              <a:rPr lang="en-US" sz="2400" dirty="0"/>
              <a:t> Potential to use Neural Networks (</a:t>
            </a:r>
            <a:r>
              <a:rPr lang="en-US" sz="2400" dirty="0" err="1"/>
              <a:t>Autoencoders</a:t>
            </a:r>
            <a:r>
              <a:rPr lang="en-US" sz="2400" dirty="0"/>
              <a:t>) for better feature extraction from gene expression data.</a:t>
            </a:r>
          </a:p>
          <a:p>
            <a:r>
              <a:rPr lang="en-US" sz="2400" b="1" dirty="0"/>
              <a:t>Goal:</a:t>
            </a:r>
            <a:r>
              <a:rPr lang="en-US" sz="2400" dirty="0"/>
              <a:t> Push predictive accuracy beyond </a:t>
            </a:r>
            <a:r>
              <a:rPr lang="en-US" sz="2400" b="1" dirty="0"/>
              <a:t>90%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46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338" y="2374232"/>
            <a:ext cx="2598820" cy="1122947"/>
          </a:xfrm>
        </p:spPr>
        <p:txBody>
          <a:bodyPr/>
          <a:lstStyle/>
          <a:p>
            <a:r>
              <a:rPr lang="en-US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6702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5946</TotalTime>
  <Words>1522</Words>
  <Application>Microsoft Office PowerPoint</Application>
  <PresentationFormat>Widescreen</PresentationFormat>
  <Paragraphs>135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Arial Unicode MS</vt:lpstr>
      <vt:lpstr>Bahnschrift</vt:lpstr>
      <vt:lpstr>Calibri</vt:lpstr>
      <vt:lpstr>Calibri Light</vt:lpstr>
      <vt:lpstr>Google Sans</vt:lpstr>
      <vt:lpstr>Google Sans Text</vt:lpstr>
      <vt:lpstr>Celestial</vt:lpstr>
      <vt:lpstr>Pharmacogenomic  Analysis &amp; Drug Response Prediction</vt:lpstr>
      <vt:lpstr>Executive Summary</vt:lpstr>
      <vt:lpstr>Breakdown of the raw data :</vt:lpstr>
      <vt:lpstr>Workflow Architecture Overview</vt:lpstr>
      <vt:lpstr>Module 1 - Computational Environment</vt:lpstr>
      <vt:lpstr>Data Ingestion Strategy</vt:lpstr>
      <vt:lpstr>Module 3 - Biological Data Enrichment</vt:lpstr>
      <vt:lpstr>Insight - Genomic Biomarker Discovery</vt:lpstr>
      <vt:lpstr>PowerPoint Presentation</vt:lpstr>
      <vt:lpstr>Module 4 - Data Preprocessing &amp; Cleaning</vt:lpstr>
      <vt:lpstr>Exploratory Data Analysis (EDA) - Response Distribution</vt:lpstr>
      <vt:lpstr>Visualization - Top Biological Pathways</vt:lpstr>
      <vt:lpstr>Exploratory Data Analysis (EDA) - Tissue Specificity</vt:lpstr>
      <vt:lpstr>PowerPoint Presentation</vt:lpstr>
      <vt:lpstr>Module 5 - Predictive Modeling Suite </vt:lpstr>
      <vt:lpstr>PowerPoint Presentation</vt:lpstr>
      <vt:lpstr>PowerPoint Presentation</vt:lpstr>
      <vt:lpstr>PowerPoint Presentation</vt:lpstr>
      <vt:lpstr>Feature Importance Analysis</vt:lpstr>
      <vt:lpstr>Validation &amp; Robustness Experiment</vt:lpstr>
      <vt:lpstr>PowerPoint Presentation</vt:lpstr>
      <vt:lpstr>PowerPoint Presentation</vt:lpstr>
      <vt:lpstr>PowerPoint Presentation</vt:lpstr>
      <vt:lpstr>Limitations &amp; Challenges</vt:lpstr>
      <vt:lpstr>Final Verdict</vt:lpstr>
      <vt:lpstr>Future Directions</vt:lpstr>
      <vt:lpstr>Thank You!</vt:lpstr>
    </vt:vector>
  </TitlesOfParts>
  <Company>Al-Qaisar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</dc:creator>
  <cp:lastModifiedBy>as</cp:lastModifiedBy>
  <cp:revision>14</cp:revision>
  <dcterms:created xsi:type="dcterms:W3CDTF">2025-12-23T15:06:43Z</dcterms:created>
  <dcterms:modified xsi:type="dcterms:W3CDTF">2025-12-27T18:13:08Z</dcterms:modified>
</cp:coreProperties>
</file>